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8" r:id="rId18"/>
    <p:sldId id="266" r:id="rId11"/>
    <p:sldId id="267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1" d="100"/>
          <a:sy n="161" d="100"/>
        </p:scale>
        <p:origin x="26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378042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F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9BF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북극 해빙 데이터 웹 뷰어 · 사용 방법</a:t>
            </a:r>
            <a:endParaRPr lang="en-US" sz="1000" dirty="0"/>
          </a:p>
        </p:txBody>
      </p:sp>
      <p:pic>
        <p:nvPicPr>
          <p:cNvPr id="4" name="Image 0" descr="/tmp/shots/06b_map_only.png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35040" y="0"/>
            <a:ext cx="6153912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035040" y="0"/>
            <a:ext cx="822960" cy="6858000"/>
          </a:xfrm>
          <a:prstGeom prst="rect">
            <a:avLst/>
          </a:prstGeom>
          <a:solidFill>
            <a:srgbClr val="0B2545">
              <a:alpha val="65000"/>
            </a:srgbClr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 txBox="1"/>
          <p:nvPr/>
        </p:nvSpPr>
        <p:spPr>
          <a:xfrm>
            <a:off x="640080" y="1371600"/>
            <a:ext cx="5303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북극 해빙 데이터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 지도 뷰어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20040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DCEB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 방법 안내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402336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DA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관측 22종(SIC·HSI·SAR·광학·IST·VIIRS) · 예측 모델 9종(KIOST 보정 3종 포함) · 기상(GFS/WW3)</a:t>
            </a:r>
            <a:r>
              <a:rPr lang="en-US" sz="1300" dirty="0" err="1">
                <a:solidFill>
                  <a:srgbClr val="C9DA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/>
            </a:r>
            <a:r>
              <a:rPr lang="en-US" sz="1300" dirty="0">
                <a:solidFill>
                  <a:srgbClr val="C9DA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/>
            </a:r>
            <a:r>
              <a:rPr lang="ko-KR" altLang="en-US" sz="1300" dirty="0">
                <a:solidFill>
                  <a:srgbClr val="C9DA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/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04088" y="507373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A9BF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https://ahnguhn.github.io/kiost_arctic/</a:t>
            </a:r>
            <a:endParaRPr lang="en-US" sz="1100" dirty="0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B8B9802D-F316-CAA4-98FE-FE8E860A398F}"/>
              </a:ext>
            </a:extLst>
          </p:cNvPr>
          <p:cNvSpPr txBox="1"/>
          <p:nvPr/>
        </p:nvSpPr>
        <p:spPr>
          <a:xfrm>
            <a:off x="704088" y="559129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A9BF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https://ahnguhn.github.io/kiost_arctic/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북극 해빙 데이터 웹 뷰어 · 사용 방법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구성 — 3단 레이아웃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왼쪽에서 고르고, 가운데에서 보고, 오른쪽에서 확인합니다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93776" y="1408176"/>
            <a:ext cx="7699248" cy="4379976"/>
          </a:xfrm>
          <a:prstGeom prst="roundRect">
            <a:avLst>
              <a:gd name="adj" fmla="val 1670"/>
            </a:avLst>
          </a:prstGeom>
          <a:solidFill>
            <a:srgbClr val="FFFFFF"/>
          </a:solidFill>
          <a:ln w="9525">
            <a:solidFill>
              <a:srgbClr val="C9D6E3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/tmp/shots/01_over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63040"/>
            <a:ext cx="7589520" cy="427024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85800" y="1600200"/>
            <a:ext cx="384048" cy="384048"/>
          </a:xfrm>
          <a:prstGeom prst="ellipse">
            <a:avLst/>
          </a:prstGeom>
          <a:solidFill>
            <a:srgbClr val="E08A2E"/>
          </a:solidFill>
          <a:ln w="12700">
            <a:solidFill>
              <a:srgbClr val="E08A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685800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657600" y="1600200"/>
            <a:ext cx="384048" cy="384048"/>
          </a:xfrm>
          <a:prstGeom prst="ellipse">
            <a:avLst/>
          </a:prstGeom>
          <a:solidFill>
            <a:srgbClr val="E08A2E"/>
          </a:solidFill>
          <a:ln w="12700">
            <a:solidFill>
              <a:srgbClr val="E08A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 txBox="1"/>
          <p:nvPr/>
        </p:nvSpPr>
        <p:spPr>
          <a:xfrm>
            <a:off x="3657600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7498080" y="1600200"/>
            <a:ext cx="384048" cy="384048"/>
          </a:xfrm>
          <a:prstGeom prst="ellipse">
            <a:avLst/>
          </a:prstGeom>
          <a:solidFill>
            <a:srgbClr val="E08A2E"/>
          </a:solidFill>
          <a:ln w="12700">
            <a:solidFill>
              <a:srgbClr val="E08A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7498080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8412480" y="1463040"/>
            <a:ext cx="3246120" cy="1325880"/>
          </a:xfrm>
          <a:prstGeom prst="roundRect">
            <a:avLst>
              <a:gd name="adj" fmla="val 6897"/>
            </a:avLst>
          </a:prstGeom>
          <a:solidFill>
            <a:srgbClr val="F3F7FB"/>
          </a:solidFill>
          <a:ln w="12700">
            <a:solidFill>
              <a:srgbClr val="F3F7F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 txBox="1"/>
          <p:nvPr/>
        </p:nvSpPr>
        <p:spPr>
          <a:xfrm>
            <a:off x="8595360" y="1572768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데이터 리스트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8595360" y="1938528"/>
            <a:ext cx="28803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331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관측 자료 / 예측 모델 목록. 탭·검색·펼침/접기로 찾고 ＋ 로 그리기 목록에 담습니다.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331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아래쪽 "그리기 목록" 에서 순서·표시 여부를 관리합니다.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8412480" y="2926080"/>
            <a:ext cx="3246120" cy="1325880"/>
          </a:xfrm>
          <a:prstGeom prst="roundRect">
            <a:avLst>
              <a:gd name="adj" fmla="val 6897"/>
            </a:avLst>
          </a:prstGeom>
          <a:solidFill>
            <a:srgbClr val="F3F7FB"/>
          </a:solidFill>
          <a:ln w="12700">
            <a:solidFill>
              <a:srgbClr val="F3F7F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 txBox="1"/>
          <p:nvPr/>
        </p:nvSpPr>
        <p:spPr>
          <a:xfrm>
            <a:off x="8595360" y="3035808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지도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8595360" y="3401568"/>
            <a:ext cx="28803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331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EPSG:3413 북극 극사영 지도. 겹쳐 그린 레이어, NSR 항로, 권역, 선박 항적, 예상 위치 도구.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331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아래 재생 막대로 시계열을 넘겨 봅니다.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8412480" y="4389120"/>
            <a:ext cx="3246120" cy="1325880"/>
          </a:xfrm>
          <a:prstGeom prst="roundRect">
            <a:avLst>
              <a:gd name="adj" fmla="val 6897"/>
            </a:avLst>
          </a:prstGeom>
          <a:solidFill>
            <a:srgbClr val="F3F7FB"/>
          </a:solidFill>
          <a:ln w="12700">
            <a:solidFill>
              <a:srgbClr val="F3F7F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 txBox="1"/>
          <p:nvPr/>
        </p:nvSpPr>
        <p:spPr>
          <a:xfrm>
            <a:off x="8595360" y="4498848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설명 · 범례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8595360" y="4864608"/>
            <a:ext cx="30480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331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선택한 자료의 출처·기준일·변수·표출범위·미리보기.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331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그려진 레이어의 색 범례가 아래에 쌓입니다.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북극 해빙 데이터 웹 뷰어 · 사용 방법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리스트 — 찾기와 접기/펼치기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섹션 → 그룹 → 데이터 제목 → 데이터(파일) 의 4단 구조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93776" y="1408176"/>
            <a:ext cx="3767328" cy="4681728"/>
          </a:xfrm>
          <a:prstGeom prst="roundRect">
            <a:avLst>
              <a:gd name="adj" fmla="val 1942"/>
            </a:avLst>
          </a:prstGeom>
          <a:solidFill>
            <a:srgbClr val="FFFFFF"/>
          </a:solidFill>
          <a:ln w="9525">
            <a:solidFill>
              <a:srgbClr val="C9D6E3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/tmp/shots/03_list_mode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63040"/>
            <a:ext cx="3657600" cy="45720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4572000" y="1554480"/>
            <a:ext cx="70408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331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탭  전체 / 관측 / 예측 모델 / 기상  — 종류별로 걸러 봅니다 (기상 = GFS·WW3).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331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검색창 — 제목·변수명·파일명 어디에 들어 있어도 찾습니다. 검색 중에는 결과가 모두 펼쳐집니다.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331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제목 줄(굵게, ▼/▶) 을 클릭하면 아래 파일 목록이 접히거나 펼쳐지고 오른쪽에 설명이 뜹니다.</a:t>
            </a:r>
            <a:endParaRPr lang="en-US" sz="1350" dirty="0"/>
          </a:p>
          <a:p>
            <a:pPr marL="355600" lvl="1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5B6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처음에는 파일이 하나인 제품은 펼쳐진 채, 스와스처럼 여러 개인 제품은 접힌 채 시작합니다.</a:t>
            </a:r>
            <a:endParaRPr lang="en-US" sz="1350" dirty="0"/>
          </a:p>
          <a:p>
            <a:pPr marL="355600" lvl="1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5B6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회색 그룹 줄(예: "AMSR3 HSI") 클릭 → 그룹 전체 접기. 검색창 옆 [펼침] [접기] → 전부 한 번에.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331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줄 = COG 파일 이름(고정폭). 시계열은 이름 뒤에 [시작 ~ 끝 · N프레임] 과 ▶N 배지가 붙습니다.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331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변수 앞 색점 = 항행 활용도: 주황 ★ 직접 · 파랑 ◆ 보조 · 회색 · 참고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북극 해빙 데이터 웹 뷰어 · 사용 방법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0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종류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관측 22종 · 예측 모델 9종 · 기상 6항목 (Data_Out 전수 구성 기준) — 예측·기상은 시계열로 담습니다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2769055"/>
              </p:ext>
            </p:extLst>
          </p:nvPr>
        </p:nvGraphicFramePr>
        <p:xfrm>
          <a:off x="548640" y="1508760"/>
          <a:ext cx="5486400" cy="2002536"/>
        </p:xfrm>
        <a:graphic>
          <a:graphicData uri="http://schemas.openxmlformats.org/drawingml/2006/table">
            <a:tbl>
              <a:tblPr/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관측 자료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시간 단위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331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AMSR2 연구 / AMSR3 HSI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331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고해상 해빙(HSI): L2 스와스 + L3 10 km + A25R/A25 합성(시계열) — TP3R·TP3A3 관측 입력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331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패스·합성 1항목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331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AMSR2 / AMSR3 SIC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331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해빙농도(SIC): AMSR2 L2 스와스 + L3 25 km + A25 합성(시계열, TP3A2 관측) · AMSR3 L2 스와스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331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패스·합성 1항목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331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ASIP · VIIRS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331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ASIP L3/L4 해빙농도 0.5/1 km · VIIRS NRT 3위성(VNP29·VJ129·VJ229) · 일별 타일(VJ129P1D·VJ229P1D)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331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하루/패스 1항목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331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Sentinel-1 / 2 / 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331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S1 SAR 후방산란 HH/HV · S2 트루컬러 RGB · S3 SLSTR 해빙비율/빙표면온도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331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장면마다 1항목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1508760"/>
          <a:ext cx="5349240" cy="3099816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예측 모델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격자 · 기관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예측 길이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331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 TOPAZ5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331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6.25 km · CMEMS Arctic (NERSC/MET Norway)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331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기준일 + 10일, 일평균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331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②③ TP3A3 / TP3R / TP3A2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331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6.25 km · KIOST 편차보정 (TOPAZ5 + AMSR3 A25 / AMSR2 연구 A25R / AMSR2 표준 A25)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331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기준일 + 10일, 일평균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331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④ neXtSIM-F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331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 km · CMEMS Arctic 해빙 전용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331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기준일 + 9일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331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⑤ RIOPS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331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 km · 캐나다 ECCC, run 00/06/12/18Z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331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 ~ 84시간 (6h 간격)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331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⑥ GIOPS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331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 km · 캐나다 전지구, run 00/12Z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331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 ~ 240시간 (12h)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331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⑦ FOAM GL4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331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1/4° · UK Met Office (AWS Open Data)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331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생산일 −2 ~ +7일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331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⑧ GLO12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331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1/12° · CMEMS 전지구 (Mercator)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331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기준일 + 10일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기상 6항목 — GFS(10 m 풍속·해면기압·기온, 0.25도)·WW3(너울·유의파고·파주기, 북극 9 km)은 "기상" 섹션에 시계열로 표시됩니다. AMSR SIM 은 Data_Out 산출 중단으로, MET-AICE 는 기본 제외. 모두 EPSG:3413 격자라 바로 겹쳐 비교할 수 있습니다.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북극 해빙 데이터 웹 뷰어 · 사용 방법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설명 확인하기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항목(제목 줄 또는 데이터 줄)을 클릭하면 오른쪽 "데이터 설명" 패널이 바뀝니다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620256" y="1408176"/>
            <a:ext cx="5047488" cy="4590288"/>
          </a:xfrm>
          <a:prstGeom prst="roundRect">
            <a:avLst>
              <a:gd name="adj" fmla="val 1594"/>
            </a:avLst>
          </a:prstGeom>
          <a:solidFill>
            <a:srgbClr val="FFFFFF"/>
          </a:solidFill>
          <a:ln w="9525">
            <a:solidFill>
              <a:srgbClr val="C9D6E3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/tmp/shots/04_des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463040"/>
            <a:ext cx="4937760" cy="44805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1554480"/>
            <a:ext cx="57607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331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· 기관 — 자료 출처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331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기준일 — 예측 기준(bulletin/run) 날짜. 관측 자료는 그 파일의 날짜 폴더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331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변수 · 단위 · 표출범위 — 색으로 표현되는 값의 범위(범례와 동일)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331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항행 활용 — ★ 직접 / ◆ 보조 / · 참고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331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 격자 · 웹 격자 — 원 해상도와 웹용으로 재투영된 해상도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331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예측 구성 · 프레임 — 몇 개 시각이 들어 있는지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331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미리보기 — 첫 프레임 그림. 클릭하면 원본 PNG 가 새 탭으로 열립니다</a:t>
            </a:r>
            <a:endParaRPr lang="en-US" sz="1350" dirty="0"/>
          </a:p>
          <a:p>
            <a:pPr marL="355600" lvl="1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5B6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설명은 data/descriptions.json 에서 읽으며, 웹 데이터를 만들 때 자동으로 갱신됩니다.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북극 해빙 데이터 웹 뷰어 · 사용 방법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그리기 목록에 담기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지도에 그릴 자료를 먼저 모아 두고, 순서와 표시 여부를 정합니다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93776" y="1408176"/>
            <a:ext cx="4315968" cy="2441448"/>
          </a:xfrm>
          <a:prstGeom prst="roundRect">
            <a:avLst>
              <a:gd name="adj" fmla="val 2996"/>
            </a:avLst>
          </a:prstGeom>
          <a:solidFill>
            <a:srgbClr val="FFFFFF"/>
          </a:solidFill>
          <a:ln w="9525">
            <a:solidFill>
              <a:srgbClr val="C9D6E3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/tmp/shots/05_que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63040"/>
            <a:ext cx="4206240" cy="23317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120640" y="1508760"/>
            <a:ext cx="2103120" cy="640080"/>
          </a:xfrm>
          <a:prstGeom prst="roundRect">
            <a:avLst>
              <a:gd name="adj" fmla="val 11429"/>
            </a:avLst>
          </a:prstGeom>
          <a:solidFill>
            <a:srgbClr val="F3F7FB"/>
          </a:solidFill>
          <a:ln w="12700">
            <a:solidFill>
              <a:srgbClr val="F3F7F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5212080" y="15087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＋ 버튼 / 더블클릭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7360920" y="150876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331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줄 하나를 목록에 추가합니다. 같은 항목은 두 번 들어가지 않습니다.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120640" y="2377440"/>
            <a:ext cx="2103120" cy="640080"/>
          </a:xfrm>
          <a:prstGeom prst="roundRect">
            <a:avLst>
              <a:gd name="adj" fmla="val 11429"/>
            </a:avLst>
          </a:prstGeom>
          <a:solidFill>
            <a:srgbClr val="F3F7FB"/>
          </a:solidFill>
          <a:ln w="12700">
            <a:solidFill>
              <a:srgbClr val="F3F7F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 txBox="1"/>
          <p:nvPr/>
        </p:nvSpPr>
        <p:spPr>
          <a:xfrm>
            <a:off x="5212080" y="23774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＋전체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7360920" y="237744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331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제목 아래 파일이 여러 개(스와스 하루치 등)일 때 한 번에 전부 추가합니다.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120640" y="3246120"/>
            <a:ext cx="2103120" cy="640080"/>
          </a:xfrm>
          <a:prstGeom prst="roundRect">
            <a:avLst>
              <a:gd name="adj" fmla="val 11429"/>
            </a:avLst>
          </a:prstGeom>
          <a:solidFill>
            <a:srgbClr val="F3F7FB"/>
          </a:solidFill>
          <a:ln w="12700">
            <a:solidFill>
              <a:srgbClr val="F3F7F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 txBox="1"/>
          <p:nvPr/>
        </p:nvSpPr>
        <p:spPr>
          <a:xfrm>
            <a:off x="5212080" y="32461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드래그 ⋮⋮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7360920" y="324612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331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목록 안에서 끌어 순서를 바꿉니다. 아래쪽 항목이 위에 겹쳐 그려집니다.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120640" y="4114800"/>
            <a:ext cx="2103120" cy="640080"/>
          </a:xfrm>
          <a:prstGeom prst="roundRect">
            <a:avLst>
              <a:gd name="adj" fmla="val 11429"/>
            </a:avLst>
          </a:prstGeom>
          <a:solidFill>
            <a:srgbClr val="F3F7FB"/>
          </a:solidFill>
          <a:ln w="12700">
            <a:solidFill>
              <a:srgbClr val="F3F7F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 txBox="1"/>
          <p:nvPr/>
        </p:nvSpPr>
        <p:spPr>
          <a:xfrm>
            <a:off x="5212080" y="41148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👁 / ×</a:t>
            </a:r>
            <a:endParaRPr lang="en-US" sz="1250" dirty="0"/>
          </a:p>
        </p:txBody>
      </p:sp>
      <p:sp>
        <p:nvSpPr>
          <p:cNvPr id="19" name="Text 16"/>
          <p:cNvSpPr txBox="1"/>
          <p:nvPr/>
        </p:nvSpPr>
        <p:spPr>
          <a:xfrm>
            <a:off x="7360920" y="411480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331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눈 아이콘은 지도에서 잠시 숨기기, × 는 목록과 지도에서 제거합니다.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5120640" y="4983480"/>
            <a:ext cx="2103120" cy="640080"/>
          </a:xfrm>
          <a:prstGeom prst="roundRect">
            <a:avLst>
              <a:gd name="adj" fmla="val 11429"/>
            </a:avLst>
          </a:prstGeom>
          <a:solidFill>
            <a:srgbClr val="F3F7FB"/>
          </a:solidFill>
          <a:ln w="12700">
            <a:solidFill>
              <a:srgbClr val="F3F7F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 txBox="1"/>
          <p:nvPr/>
        </p:nvSpPr>
        <p:spPr>
          <a:xfrm>
            <a:off x="5212080" y="49834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그리기 / 모두 지우기</a:t>
            </a:r>
            <a:endParaRPr lang="en-US" sz="1250" dirty="0"/>
          </a:p>
        </p:txBody>
      </p:sp>
      <p:sp>
        <p:nvSpPr>
          <p:cNvPr id="22" name="Text 19"/>
          <p:cNvSpPr txBox="1"/>
          <p:nvPr/>
        </p:nvSpPr>
        <p:spPr>
          <a:xfrm>
            <a:off x="7360920" y="498348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331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목록의 자료를 지도에 그립니다(다시 누르면 새로 추가된 것만 로드). "모두 지우기" 는 목록·지도를 비웁니다.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548640" y="4206240"/>
            <a:ext cx="4206240" cy="1645920"/>
          </a:xfrm>
          <a:prstGeom prst="rect">
            <a:avLst/>
          </a:prstGeom>
          <a:solidFill>
            <a:srgbClr val="FFF4E5"/>
          </a:solidFill>
          <a:ln/>
        </p:spPr>
        <p:txBody>
          <a:bodyPr wrap="square" lIns="127000" tIns="127000" rIns="127000" bIns="12700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331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팁 — 예측 모델을 서로 비교하려면 같은 변수(예: 해빙농도)를 모델별로 담고, 관측(AMSR L3 등)을 맨 위에 두면 빙연을 대조하기 쉽습니다.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북극 해빙 데이터 웹 뷰어 · 사용 방법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지도에 그리기와 범례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[그리기] 를 누르면 목록의 자료가 순서대로 지도에 겹쳐집니다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93776" y="1362456"/>
            <a:ext cx="7882128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9525">
            <a:solidFill>
              <a:srgbClr val="C9D6E3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/tmp/shots/06_drawn_mod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17320"/>
            <a:ext cx="7772400" cy="437083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595360" y="1463040"/>
            <a:ext cx="31089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331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상태줄(지도 왼쪽 아래) 에 "그리는 중 (n/N)" 이 표시되고, 끝나면 사라집니다.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331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오른쪽 아래 범례 — 그려진 자료마다 색 막대와 값 범위. 시계열은 현재 프레임 시각도 함께.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331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지도를 클릭하면 그 지점의 셀 값(물리량)이 팝업으로 뜹니다. 마우스를 움직이면 오른쪽 아래에 위·경도.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331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확대·축소 — 마우스 휠, 드래그로 이동. 오른쪽 위 +/− 와 ▲(북쪽 맞춤).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331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재투영 없이 EPSG:3413 그대로 그리므로 여러 자료를 픽셀 단위로 겹쳐 볼 수 있습니다.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북극 해빙 데이터 웹 뷰어 · 사용 방법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시계열 재생 — 예측을 시간 순으로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지도 아래 재생 막대. 서로 시간축이 다른 모델도 하나의 타임라인으로 맞춰 줍니다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93776" y="1362456"/>
            <a:ext cx="7973568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9525">
            <a:solidFill>
              <a:srgbClr val="C9D6E3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/tmp/shots/07_play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17320"/>
            <a:ext cx="7863840" cy="46223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2514600"/>
            <a:ext cx="132588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9DB6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548640" y="2514600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331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⏮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2011680" y="251460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331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처음으로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480560" y="2514600"/>
            <a:ext cx="132588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9DB6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 txBox="1"/>
          <p:nvPr/>
        </p:nvSpPr>
        <p:spPr>
          <a:xfrm>
            <a:off x="4480560" y="2514600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331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◀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5943600" y="251460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331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이전 프레임 (←)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48640" y="3081528"/>
            <a:ext cx="132588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9DB6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 txBox="1"/>
          <p:nvPr/>
        </p:nvSpPr>
        <p:spPr>
          <a:xfrm>
            <a:off x="548640" y="3081528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331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재생 / ⏸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2011680" y="308152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331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재생 · 일시정지 (Space)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480560" y="3081528"/>
            <a:ext cx="132588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9DB6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 txBox="1"/>
          <p:nvPr/>
        </p:nvSpPr>
        <p:spPr>
          <a:xfrm>
            <a:off x="4480560" y="3081528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331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⏹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943600" y="308152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331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중지하고 처음으로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548640" y="3648456"/>
            <a:ext cx="132588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9DB6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 txBox="1"/>
          <p:nvPr/>
        </p:nvSpPr>
        <p:spPr>
          <a:xfrm>
            <a:off x="548640" y="3648456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331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2011680" y="3648456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331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프레임 (→)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4480560" y="3648456"/>
            <a:ext cx="132588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9DB6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1"/>
          <p:cNvSpPr txBox="1"/>
          <p:nvPr/>
        </p:nvSpPr>
        <p:spPr>
          <a:xfrm>
            <a:off x="4480560" y="3648456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331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막대 드래그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5943600" y="3648456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331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원하는 시각으로 바로 이동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548640" y="4215384"/>
            <a:ext cx="132588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9DB6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4"/>
          <p:cNvSpPr txBox="1"/>
          <p:nvPr/>
        </p:nvSpPr>
        <p:spPr>
          <a:xfrm>
            <a:off x="548640" y="4215384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331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1x ▾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2011680" y="4215384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331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재생 속도 0.5 ~ 4배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8686800" y="1417320"/>
            <a:ext cx="2971800" cy="4343400"/>
          </a:xfrm>
          <a:prstGeom prst="roundRect">
            <a:avLst>
              <a:gd name="adj" fmla="val 3077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7"/>
          <p:cNvSpPr txBox="1"/>
          <p:nvPr/>
        </p:nvSpPr>
        <p:spPr>
          <a:xfrm>
            <a:off x="8869680" y="152704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시간축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8869680" y="1892808"/>
            <a:ext cx="2606040" cy="377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32" name="Text 29"/>
          <p:cNvSpPr txBox="1"/>
          <p:nvPr/>
        </p:nvSpPr>
        <p:spPr>
          <a:xfrm>
            <a:off x="8869680" y="1920240"/>
            <a:ext cx="265176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100" dirty="0">
                <a:solidFill>
                  <a:srgbClr val="DCEB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프레임의 실제 UTC 시각을 기준으로 그려진 시계열들의 시각을 합쳐 하나의 타임라인을 만듭니다.</a:t>
            </a:r>
            <a:endParaRPr lang="en-US" sz="11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00" dirty="0">
                <a:solidFill>
                  <a:srgbClr val="DCEB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일평균(TOPAZ5·TP3 계열), 6시간 리드(RIOPS), 12시간 리드(GIOPS) 처럼 축이 달라도 같은 시각에서 비교할 수 있습니다.</a:t>
            </a:r>
            <a:endParaRPr lang="en-US" sz="11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00" dirty="0">
                <a:solidFill>
                  <a:srgbClr val="DCEB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레이어는 현재 시각에 가장 가까운 프레임을 보여 주며, 12시간 넘게 어긋나면 막대 아래 이름이 주황색으로 표시됩니다.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CEB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막대 아래 줄 = 레이어별 현재 프레임 라벨 (예: TP3R 10-03 · TOPAZ5 10-03).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548640" y="4709160"/>
            <a:ext cx="7863840" cy="1005840"/>
          </a:xfrm>
          <a:prstGeom prst="rect">
            <a:avLst/>
          </a:prstGeom>
          <a:solidFill>
            <a:srgbClr val="FFF4E5"/>
          </a:solidFill>
          <a:ln/>
        </p:spPr>
        <p:txBody>
          <a:bodyPr wrap="square" lIns="127000" tIns="127000" rIns="127000" bIns="12700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331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예) TOPAZ5 해빙농도 10일 + TP3R 보정 해빙농도 10일을 함께 담고 ▶ 재생 → 원모델과 보정 예측의 빙연 변화를 같은 날짜에서 비교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북극 해빙 데이터 웹 뷰어 · 사용 방법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위성 관측 자료 보기 — 스와스와 일별 격자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관측 탭 → 제품 제목 펼치기 → 패스별 ＋ 또는 ＋전체 (SIC·HSI·SAR·광학·IST·VIIRS)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93776" y="1362456"/>
            <a:ext cx="4681728" cy="4407408"/>
          </a:xfrm>
          <a:prstGeom prst="roundRect">
            <a:avLst>
              <a:gd name="adj" fmla="val 1660"/>
            </a:avLst>
          </a:prstGeom>
          <a:solidFill>
            <a:srgbClr val="FFFFFF"/>
          </a:solidFill>
          <a:ln w="9525">
            <a:solidFill>
              <a:srgbClr val="C9D6E3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/tmp/shots/10b_swaths_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17320"/>
            <a:ext cx="4572000" cy="429768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5806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스와스 제품 하루치를 ＋전체로 한꺼번에 그린 모습 (그림은 AMSR3 L2 HSI 예시)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294376" y="1362456"/>
            <a:ext cx="4681728" cy="4407408"/>
          </a:xfrm>
          <a:prstGeom prst="roundRect">
            <a:avLst>
              <a:gd name="adj" fmla="val 1660"/>
            </a:avLst>
          </a:prstGeom>
          <a:solidFill>
            <a:srgbClr val="FFFFFF"/>
          </a:solidFill>
          <a:ln w="9525">
            <a:solidFill>
              <a:srgbClr val="C9D6E3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1" descr="/tmp/shots/11b_asip_m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9240" y="1417320"/>
            <a:ext cx="4572000" cy="42976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349240" y="5806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ASIP L4 1 km + AMSR3 L3 HSI 10 km 일별 격자</a:t>
            </a:r>
            <a:endParaRPr lang="en-US" sz="1050" dirty="0"/>
          </a:p>
        </p:txBody>
      </p:sp>
      <p:sp>
        <p:nvSpPr>
          <p:cNvPr id="12" name="Text 8"/>
          <p:cNvSpPr txBox="1"/>
          <p:nvPr/>
        </p:nvSpPr>
        <p:spPr>
          <a:xfrm>
            <a:off x="10104120" y="1463040"/>
            <a:ext cx="16002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1331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스와스(HSI L2, S1 SAR, S3 IST 등)는 패스마다 항목이라 시각(파일명 12자리·T시각)으로 고를 수 있습니다.</a:t>
            </a:r>
            <a:endParaRPr lang="en-US" sz="10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1331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＋전체 → 그날 전체를 겹쳐 하루 커버리지를 봅니다.</a:t>
            </a:r>
            <a:endParaRPr lang="en-US" sz="10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1331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L3(SIC 25 km·HSI 10 km)·ASIP·P1D 타일은 하루 격자. 모델 위에 올려 빙연을 대조하세요.</a:t>
            </a:r>
            <a:endParaRPr lang="en-US" sz="10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1331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A25 SIC·A25R/A25 HSI 합성은 시계열 1항목이라 재생 막대로 넘겨 봅니다. S2 트루컬러는 축소 RGB 로 표시됩니다.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북극 해빙 데이터 웹 뷰어 · 사용 방법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기상 데이터 — GFS 바람·기압, WW3 파랑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기상 탭 → GFS(0.25도) · WW3(9 km) — 예보 시계열을 재생 막대로 넘겨 봅니다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93776" y="1362456"/>
            <a:ext cx="4681728" cy="4407408"/>
          </a:xfrm>
          <a:prstGeom prst="roundRect">
            <a:avLst>
              <a:gd name="adj" fmla="val 1660"/>
            </a:avLst>
          </a:prstGeom>
          <a:solidFill>
            <a:srgbClr val="FFFFFF"/>
          </a:solidFill>
          <a:ln w="9525">
            <a:solidFill>
              <a:srgbClr val="C9D6E3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/tmp/shots/10b_swaths_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17320"/>
            <a:ext cx="4572000" cy="429768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5806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GFS 해면기압(hPa) — 기상 탭에서 담아 그린 모습 (저기압 = 푸른색)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294376" y="1362456"/>
            <a:ext cx="4681728" cy="4407408"/>
          </a:xfrm>
          <a:prstGeom prst="roundRect">
            <a:avLst>
              <a:gd name="adj" fmla="val 1660"/>
            </a:avLst>
          </a:prstGeom>
          <a:solidFill>
            <a:srgbClr val="FFFFFF"/>
          </a:solidFill>
          <a:ln w="9525">
            <a:solidFill>
              <a:srgbClr val="C9D6E3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1" descr="/tmp/shots/11b_asip_m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9240" y="1417320"/>
            <a:ext cx="4572000" cy="42976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349240" y="5806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WW3 1차 너울 파고(m) — 북극 9 km 파랑 예보</a:t>
            </a:r>
            <a:endParaRPr lang="en-US" sz="1050" dirty="0"/>
          </a:p>
        </p:txBody>
      </p:sp>
      <p:sp>
        <p:nvSpPr>
          <p:cNvPr id="12" name="Text 8"/>
          <p:cNvSpPr txBox="1"/>
          <p:nvPr/>
        </p:nvSpPr>
        <p:spPr>
          <a:xfrm>
            <a:off x="10104120" y="1463040"/>
            <a:ext cx="16002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1331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GFS: 10 m 풍속·해면기압·2 m 기온. 기준일 run 의 예보 리드가 시계열 1항목으로 묶입니다.</a:t>
            </a:r>
            <a:endParaRPr lang="en-US" sz="10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1331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WW3: 1차 너울 파고·전체 유의파고·파주기 (GFS-Wave 북극 9 km 격자).</a:t>
            </a:r>
            <a:endParaRPr lang="en-US" sz="10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1331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값은 물리량(float) 그대로라 지도를 클릭하면 hPa·m/s·m 단위 셀값이 표시됩니다.</a:t>
            </a:r>
            <a:endParaRPr lang="en-US" sz="10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1331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해빙 예측·항적과 겹쳐 항로 주변 바람·파랑 여건을 함께 확인하세요.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북극 해빙 데이터 웹 뷰어 · 사용 방법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지도 위 컨트롤 — 항로 · 권역 · 선박 항적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지도 왼쪽 위 체크박스와 도구 버튼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93776" y="1362456"/>
            <a:ext cx="6693408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C9D6E3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/tmp/shots/13_mapct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17320"/>
            <a:ext cx="6583680" cy="39291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21488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항해 경로 (NSR)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2971800" y="2148840"/>
            <a:ext cx="4160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331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부산 ↔ 북유럽 왕복 NSR 경로. 왕로(주황) / 복로(하늘색) 두 선으로 표시, 반환점 표시.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28803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권역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2971800" y="2880360"/>
            <a:ext cx="4160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331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ARC(북극권 66°N 이북)·BRS(베링/추크치)·ENS·YLS·EAS 등 관심 권역 경계와 라벨.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36118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선박 항적 (PANSTAR ACRO)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2971800" y="3611880"/>
            <a:ext cx="4160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331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AIS 기록 전체 항적(노란 선) + 1시간 간격 점. 점에 마우스를 올리면 UTC/KST 시각·속력·침로·상태 팝업. 빨간 점 = 마지막 위치.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43434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📍 예상위치 찍기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2971800" y="4343400"/>
            <a:ext cx="4160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331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켠 뒤 지도를 클릭하면 마지막 위치에서 그 지점까지의 거리·방위와, 선박의 기존 속력으로 계산한 예상 도달 시각을 팝업으로 보여 줍니다. 여러 점을 찍을 수 있고 점선으로 연결됩니다.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50749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찍은 점 지우기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2971800" y="5074920"/>
            <a:ext cx="4160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331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찍은 점을 모두 제거. 점 하나만 지우려면 팝업의 [× 이 점 삭제].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7443216" y="1362456"/>
            <a:ext cx="4270248" cy="4681728"/>
          </a:xfrm>
          <a:prstGeom prst="roundRect">
            <a:avLst>
              <a:gd name="adj" fmla="val 1713"/>
            </a:avLst>
          </a:prstGeom>
          <a:solidFill>
            <a:srgbClr val="FFFFFF"/>
          </a:solidFill>
          <a:ln w="9525">
            <a:solidFill>
              <a:srgbClr val="C9D6E3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9" name="Image 1" descr="/tmp/shots/12b_eta_popu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0" y="1417320"/>
            <a:ext cx="4160520" cy="4572000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7498080" y="608076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예상 위치 팝업 — 3가지 속력 기준(마지막 SOG · 최근 24h 평균 · 항해중 평균)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북극 해빙 데이터 웹 뷰어 · 사용 방법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예상 도달 시각은 어떻게 계산되나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선박 항적 파일(PANSTAR_ACRO_track.geojson)의 속력 통계를 사용합니다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3566160" cy="1691640"/>
          </a:xfrm>
          <a:prstGeom prst="roundRect">
            <a:avLst>
              <a:gd name="adj" fmla="val 5405"/>
            </a:avLst>
          </a:prstGeom>
          <a:solidFill>
            <a:srgbClr val="F3F7FB"/>
          </a:solidFill>
          <a:ln w="12700">
            <a:solidFill>
              <a:srgbClr val="F3F7F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731520" y="166420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거리 · 방위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029968"/>
            <a:ext cx="320040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331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마지막 AIS 위치 → 찍은 지점의 대권거리(km, nmi)와 초기 방위각. 현재 침로(COG)도 함께 표시해 방향 차이를 볼 수 있습니다.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97680" y="1554480"/>
            <a:ext cx="3566160" cy="1691640"/>
          </a:xfrm>
          <a:prstGeom prst="roundRect">
            <a:avLst>
              <a:gd name="adj" fmla="val 5405"/>
            </a:avLst>
          </a:prstGeom>
          <a:solidFill>
            <a:srgbClr val="F3F7FB"/>
          </a:solidFill>
          <a:ln w="12700">
            <a:solidFill>
              <a:srgbClr val="F3F7F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4480560" y="166420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속력 (마지막 SOG)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480560" y="2029968"/>
            <a:ext cx="320040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331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최근 기록의 대지속력. 지금 속도가 유지될 때의 도달 시각.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429000"/>
            <a:ext cx="3566160" cy="1691640"/>
          </a:xfrm>
          <a:prstGeom prst="roundRect">
            <a:avLst>
              <a:gd name="adj" fmla="val 5405"/>
            </a:avLst>
          </a:prstGeom>
          <a:solidFill>
            <a:srgbClr val="F3F7FB"/>
          </a:solidFill>
          <a:ln w="12700">
            <a:solidFill>
              <a:srgbClr val="F3F7F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731520" y="353872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최근 24시간 평균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3904488"/>
            <a:ext cx="320040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331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마지막 24시간 동안 실제 이동 구간(1 kn 이상, 3시간 이내 간격)의 평균 속력. 최근 운항 패턴 기준.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297680" y="3429000"/>
            <a:ext cx="3566160" cy="1691640"/>
          </a:xfrm>
          <a:prstGeom prst="roundRect">
            <a:avLst>
              <a:gd name="adj" fmla="val 5405"/>
            </a:avLst>
          </a:prstGeom>
          <a:solidFill>
            <a:srgbClr val="F3F7FB"/>
          </a:solidFill>
          <a:ln w="12700">
            <a:solidFill>
              <a:srgbClr val="F3F7F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 txBox="1"/>
          <p:nvPr/>
        </p:nvSpPr>
        <p:spPr>
          <a:xfrm>
            <a:off x="4480560" y="353872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항해중 전체 평균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480560" y="3904488"/>
            <a:ext cx="320040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331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항적 전체에서 정박·표류 구간을 뺀 평균 속력. 장거리 계획용 보수적 추정.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229600" y="1554480"/>
            <a:ext cx="3429000" cy="3566160"/>
          </a:xfrm>
          <a:prstGeom prst="roundRect">
            <a:avLst>
              <a:gd name="adj" fmla="val 2667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 txBox="1"/>
          <p:nvPr/>
        </p:nvSpPr>
        <p:spPr>
          <a:xfrm>
            <a:off x="8412480" y="166420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항적 파일 갱신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412480" y="2029968"/>
            <a:ext cx="3063240" cy="2999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8412480" y="2057400"/>
            <a:ext cx="31089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DCEB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web\data\ 에 새 PANSTAR*.csv 또는 *.gpkg(트랙 GeoPackage) 를 넣는다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DCEB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web\tools\make_ship_track.py 실행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A9BF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→ PANSTAR_ACRO_track.geojson 재생성 (중복 시각 제거, 1시간 대표점, 속력 통계)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DCEB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브라우저 새로고침(F5)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8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예상 시각은 UTC 와 KST(UTC+9) 두 가지로 표시됩니다.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54406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예상 위치는 직선(대권) 항로·일정 속력을 가정한 참고값입니다. 해빙·기상·항로 우회는 반영되지 않습니다.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1719</Words>
  <Application>Microsoft Office PowerPoint</Application>
  <PresentationFormat>와이드스크린</PresentationFormat>
  <Paragraphs>194</Paragraphs>
  <Slides>11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4" baseType="lpstr">
      <vt:lpstr>Malgun Gothic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북극 해빙 웹 지도 사용 방법</dc:title>
  <dc:subject>PptxGenJS Presentation</dc:subject>
  <dc:creator>Arctic viewer</dc:creator>
  <cp:lastModifiedBy>재성 안</cp:lastModifiedBy>
  <cp:revision>8</cp:revision>
  <dcterms:created xsi:type="dcterms:W3CDTF">2026-08-31T14:20:13Z</dcterms:created>
  <dcterms:modified xsi:type="dcterms:W3CDTF">2026-08-31T14:26:39Z</dcterms:modified>
</cp:coreProperties>
</file>