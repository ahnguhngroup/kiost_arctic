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IC 색상" id="{12c3abbc-139d-a406-915e-01f4fb85ec2d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2D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0F2D52"/>
                </a:solidFill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F2D52"/>
                </a:solidFill>
              </a:rPr>
              <a:t>제목</a:t>
            </a: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</a:rPr>
              <a:t>SIC 공통 색상 스키마 — 북극 해빙 웹지도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B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B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SIC 공통 색상 스키마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DE3F5"/>
                </a:solidFill>
              </a:rPr>
              <a:t>해빙농도(SIC) 계열 전 제품 공통 — Rainbow (0% 남색 → 100% 흰색)</a:t>
            </a:r>
            <a:endParaRPr lang="en-US" sz="1800" dirty="0"/>
          </a:p>
        </p:txBody>
      </p:sp>
      <p:pic>
        <p:nvPicPr>
          <p:cNvPr id="4" name="Image 0" descr="/home/claude/sicapply/cbar_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931920"/>
            <a:ext cx="8046720" cy="11521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3D1"/>
                </a:solidFill>
              </a:rPr>
              <a:t>북극 해빙 웹지도 · 2026-10 적용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B6B5C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800" b="1" dirty="0">
                <a:solidFill>
                  <a:srgbClr val="0F2D52"/>
                </a:solidFill>
              </a:rPr>
              <a:t>색상 정의 — 앵커 9점, 위치 지정 선형 보간</a:t>
            </a:r>
            <a:endParaRPr lang="en-US" sz="2800" dirty="0"/>
          </a:p>
        </p:txBody>
      </p:sp>
      <p:pic>
        <p:nvPicPr>
          <p:cNvPr id="3" name="Image 0" descr="/home/claude/sicapply/cbar_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06640" cy="10607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2920" y="2697480"/>
            <a:ext cx="502920" cy="310896"/>
          </a:xfrm>
          <a:prstGeom prst="rect">
            <a:avLst/>
          </a:prstGeom>
          <a:solidFill>
            <a:srgbClr val="081C6E"/>
          </a:solidFill>
          <a:ln w="9525">
            <a:solidFill>
              <a:srgbClr val="B9C4C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43000" y="2697480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2"/>
                </a:solidFill>
              </a:rPr>
              <a:t>0 %   </a:t>
            </a:r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#081c6e 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</a:rPr>
              <a:t>남색 — 개수면(바다)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3099816"/>
            <a:ext cx="502920" cy="310896"/>
          </a:xfrm>
          <a:prstGeom prst="rect">
            <a:avLst/>
          </a:prstGeom>
          <a:solidFill>
            <a:srgbClr val="1B4FC4"/>
          </a:solidFill>
          <a:ln w="9525">
            <a:solidFill>
              <a:srgbClr val="B9C4C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99816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2"/>
                </a:solidFill>
              </a:rPr>
              <a:t>10 %  </a:t>
            </a:r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#1b4fc4 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</a:rPr>
              <a:t>파랑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3502152"/>
            <a:ext cx="502920" cy="310896"/>
          </a:xfrm>
          <a:prstGeom prst="rect">
            <a:avLst/>
          </a:prstGeom>
          <a:solidFill>
            <a:srgbClr val="1F8EE0"/>
          </a:solidFill>
          <a:ln w="9525">
            <a:solidFill>
              <a:srgbClr val="B9C4C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43000" y="35021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2"/>
                </a:solidFill>
              </a:rPr>
              <a:t>20 %  </a:t>
            </a:r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#1f8ee0 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</a:rPr>
              <a:t>하늘 (15% ice edge 가 10~20% 전환부)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3904488"/>
            <a:ext cx="502920" cy="310896"/>
          </a:xfrm>
          <a:prstGeom prst="rect">
            <a:avLst/>
          </a:prstGeom>
          <a:solidFill>
            <a:srgbClr val="19C3E8"/>
          </a:solidFill>
          <a:ln w="9525">
            <a:solidFill>
              <a:srgbClr val="B9C4C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43000" y="390448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2"/>
                </a:solidFill>
              </a:rPr>
              <a:t>35 %  </a:t>
            </a:r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#19c3e8 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</a:rPr>
              <a:t>시안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4306824"/>
            <a:ext cx="502920" cy="310896"/>
          </a:xfrm>
          <a:prstGeom prst="rect">
            <a:avLst/>
          </a:prstGeom>
          <a:solidFill>
            <a:srgbClr val="2FC96A"/>
          </a:solidFill>
          <a:ln w="9525">
            <a:solidFill>
              <a:srgbClr val="B9C4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143000" y="4306824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2"/>
                </a:solidFill>
              </a:rPr>
              <a:t>50 %  </a:t>
            </a:r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#2fc96a 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</a:rPr>
              <a:t>초록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4709160"/>
            <a:ext cx="502920" cy="310896"/>
          </a:xfrm>
          <a:prstGeom prst="rect">
            <a:avLst/>
          </a:prstGeom>
          <a:solidFill>
            <a:srgbClr val="C6DD23"/>
          </a:solidFill>
          <a:ln w="9525">
            <a:solidFill>
              <a:srgbClr val="B9C4C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43000" y="4709160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2"/>
                </a:solidFill>
              </a:rPr>
              <a:t>65 %  </a:t>
            </a:r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#c6dd23 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</a:rPr>
              <a:t>연두-노랑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111496"/>
            <a:ext cx="502920" cy="310896"/>
          </a:xfrm>
          <a:prstGeom prst="rect">
            <a:avLst/>
          </a:prstGeom>
          <a:solidFill>
            <a:srgbClr val="F5A81F"/>
          </a:solidFill>
          <a:ln w="9525">
            <a:solidFill>
              <a:srgbClr val="B9C4C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43000" y="5111496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2"/>
                </a:solidFill>
              </a:rPr>
              <a:t>78 %  </a:t>
            </a:r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#f5a81f 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</a:rPr>
              <a:t>주황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5513832"/>
            <a:ext cx="502920" cy="310896"/>
          </a:xfrm>
          <a:prstGeom prst="rect">
            <a:avLst/>
          </a:prstGeom>
          <a:solidFill>
            <a:srgbClr val="E23A2E"/>
          </a:solidFill>
          <a:ln w="9525">
            <a:solidFill>
              <a:srgbClr val="B9C4C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143000" y="551383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2"/>
                </a:solidFill>
              </a:rPr>
              <a:t>90 %  </a:t>
            </a:r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#e23a2e 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</a:rPr>
              <a:t>빨강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5916168"/>
            <a:ext cx="502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B9C4C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143000" y="59161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2"/>
                </a:solidFill>
              </a:rPr>
              <a:t>100 % </a:t>
            </a:r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#ffffff 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</a:rPr>
              <a:t>흰색 — 밀집 빙역(얼음)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229600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AF2FA"/>
          </a:solidFill>
          <a:ln w="12700">
            <a:solidFill>
              <a:srgbClr val="1E5F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458200" y="1417320"/>
            <a:ext cx="306324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F2D52"/>
                </a:solidFill>
              </a:rPr>
              <a:t>설계 원칙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733"/>
                </a:solidFill>
              </a:rPr>
              <a:t>0% = 남색: 개수면이 바다색으로 읽힘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733"/>
                </a:solidFill>
              </a:rPr>
              <a:t>100% = 흰색: 밀집 빙역이 얼음색으로 읽힘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733"/>
                </a:solidFill>
              </a:rPr>
              <a:t>15%(운항 ice edge)가 파랑→하늘 전환부에 위치 — 빙연이 색으로 구분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733"/>
                </a:solidFill>
              </a:rPr>
              <a:t>밝기가 어두움→밝음으로 대체로 단조 증가 (rainbow 의 가짜 경계 완화)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733"/>
                </a:solidFill>
              </a:rPr>
              <a:t>브레멘대 AMSR2 해빙지도 관행과 유사한 구성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B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800" b="1" dirty="0">
                <a:solidFill>
                  <a:srgbClr val="0F2D52"/>
                </a:solidFill>
              </a:rPr>
              <a:t>적용 범위와 구현</a:t>
            </a:r>
            <a:endParaRPr lang="en-US" sz="2800" dirty="0"/>
          </a:p>
        </p:txBody>
      </p:sp>
      <p:pic>
        <p:nvPicPr>
          <p:cNvPr id="3" name="Image 0" descr="/home/claude/sicapply/map_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280160"/>
            <a:ext cx="402336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26680" y="5349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8C"/>
                </a:solidFill>
              </a:rPr>
              <a:t>TOPAZ5 siconc 적용 예 (2026-09-09)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280160"/>
            <a:ext cx="69494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0F2D52"/>
                </a:solidFill>
              </a:rPr>
              <a:t>적용 대상 — SIC 계열 전부 (byte 값 → 동일 색)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</a:rPr>
              <a:t>관측: AMSR2/AMSR3 SIC·HSI (L2 스와스 · L3 · A25/A25R 합성), ASIP, Sentinel-3 해빙비율 — percent 인코딩 124개 항목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</a:rPr>
              <a:t>예측 모델: TOPAZ5 · TP3A3 · TP3R · neXtSIM-F · RIOPS · AICE · GIOPS · FOAM · GLO12 의 siconc/iiceconc/SIC, fy·siconc_my·siconc_young 포함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</a:rPr>
              <a:t>COG 에 팔레트가 내장된 관측 제품도 공통색이 우선 적용(override)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0F2D52"/>
                </a:solidFill>
              </a:rPr>
              <a:t>구현 위치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web\index.html — SIC_STOPS + sicColor() (lut "sic")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web\tools\make_web_data.py — _ICE/_PCT_ICE lut="sic"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web\data\catalog.json — 기존 133개 항목 lut 일괄 갱신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0F2D52"/>
                </a:solidFill>
              </a:rPr>
              <a:t>유의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</a:rPr>
              <a:t>데이터(COG) 재생성 불필요 — 색은 뷰어에서 입힘. 좌측 목록의 미리보기 PNG 는 다음 run_make_web_data 실행 때 새 색으로 갱신됨.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B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800" b="1" dirty="0">
                <a:solidFill>
                  <a:srgbClr val="0F2D52"/>
                </a:solidFill>
              </a:rPr>
              <a:t>WMO 총빙량 옵션 — rainbow 와 선택 사용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241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B8C"/>
                </a:solidFill>
              </a:rPr>
              <a:t>WMO/JCOMM Ice Chart Colour Code (WMO/TD-No.1215) 계급 — 범례에 계급 이름 표기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02920" cy="329184"/>
          </a:xfrm>
          <a:prstGeom prst="rect">
            <a:avLst/>
          </a:prstGeom>
          <a:solidFill>
            <a:srgbClr val="081C6E"/>
          </a:solidFill>
          <a:ln w="9525">
            <a:solidFill>
              <a:srgbClr val="B9C4C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37160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D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~ &lt;1 %    </a:t>
            </a:r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#081c6e  </a:t>
            </a:r>
            <a:pPr indent="0" marL="0">
              <a:buNone/>
            </a:pPr>
            <a:r>
              <a:rPr lang="en-US" sz="1250" b="1" dirty="0">
                <a:solidFill>
                  <a:srgbClr val="1A2733"/>
                </a:solidFill>
              </a:rPr>
              <a:t>Ice free (무빙)  </a:t>
            </a:r>
            <a:pPr indent="0" marL="0">
              <a:buNone/>
            </a:pPr>
            <a:r>
              <a:rPr lang="en-US" sz="1100" dirty="0">
                <a:solidFill>
                  <a:srgbClr val="6B7B8C"/>
                </a:solidFill>
              </a:rPr>
              <a:t>rainbow 0% 남색과 통일 (표준 #0064ff 대체)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801368"/>
            <a:ext cx="502920" cy="329184"/>
          </a:xfrm>
          <a:prstGeom prst="rect">
            <a:avLst/>
          </a:prstGeom>
          <a:solidFill>
            <a:srgbClr val="96C8FF"/>
          </a:solidFill>
          <a:ln w="9525">
            <a:solidFill>
              <a:srgbClr val="B9C4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18013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D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~ &lt;10 %   </a:t>
            </a:r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#96c8ff  </a:t>
            </a:r>
            <a:pPr indent="0" marL="0">
              <a:buNone/>
            </a:pPr>
            <a:r>
              <a:rPr lang="en-US" sz="1250" b="1" dirty="0">
                <a:solidFill>
                  <a:srgbClr val="1A2733"/>
                </a:solidFill>
              </a:rPr>
              <a:t>개수면 &lt;1/10  </a:t>
            </a:r>
            <a:pPr indent="0" marL="0">
              <a:buNone/>
            </a:pPr>
            <a:r>
              <a:rPr lang="en-US" sz="1100" dirty="0">
                <a:solidFill>
                  <a:srgbClr val="6B7B8C"/>
                </a:solidFill>
              </a:rPr>
              <a:t>Open water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31136"/>
            <a:ext cx="502920" cy="329184"/>
          </a:xfrm>
          <a:prstGeom prst="rect">
            <a:avLst/>
          </a:prstGeom>
          <a:solidFill>
            <a:srgbClr val="8CFFA0"/>
          </a:solidFill>
          <a:ln w="9525">
            <a:solidFill>
              <a:srgbClr val="B9C4C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23113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D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~ &lt;40 %  </a:t>
            </a:r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#8cffa0  </a:t>
            </a:r>
            <a:pPr indent="0" marL="0">
              <a:buNone/>
            </a:pPr>
            <a:r>
              <a:rPr lang="en-US" sz="1250" b="1" dirty="0">
                <a:solidFill>
                  <a:srgbClr val="1A2733"/>
                </a:solidFill>
              </a:rPr>
              <a:t>성긴 유빙 1~3/10  </a:t>
            </a:r>
            <a:pPr indent="0" marL="0">
              <a:buNone/>
            </a:pPr>
            <a:r>
              <a:rPr lang="en-US" sz="1100" dirty="0">
                <a:solidFill>
                  <a:srgbClr val="6B7B8C"/>
                </a:solidFill>
              </a:rPr>
              <a:t>Very open drift ice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660904"/>
            <a:ext cx="502920" cy="329184"/>
          </a:xfrm>
          <a:prstGeom prst="rect">
            <a:avLst/>
          </a:prstGeom>
          <a:solidFill>
            <a:srgbClr val="FFFF00"/>
          </a:solidFill>
          <a:ln w="9525">
            <a:solidFill>
              <a:srgbClr val="B9C4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266090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D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~ &lt;70 %  </a:t>
            </a:r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#ffff00  </a:t>
            </a:r>
            <a:pPr indent="0" marL="0">
              <a:buNone/>
            </a:pPr>
            <a:r>
              <a:rPr lang="en-US" sz="1250" b="1" dirty="0">
                <a:solidFill>
                  <a:srgbClr val="1A2733"/>
                </a:solidFill>
              </a:rPr>
              <a:t>산재 유빙 4~6/10  </a:t>
            </a:r>
            <a:pPr indent="0" marL="0">
              <a:buNone/>
            </a:pPr>
            <a:r>
              <a:rPr lang="en-US" sz="1100" dirty="0">
                <a:solidFill>
                  <a:srgbClr val="6B7B8C"/>
                </a:solidFill>
              </a:rPr>
              <a:t>Open drift ice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090672"/>
            <a:ext cx="502920" cy="329184"/>
          </a:xfrm>
          <a:prstGeom prst="rect">
            <a:avLst/>
          </a:prstGeom>
          <a:solidFill>
            <a:srgbClr val="FF7D07"/>
          </a:solidFill>
          <a:ln w="9525">
            <a:solidFill>
              <a:srgbClr val="B9C4C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09067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D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 ~ &lt;90 %  </a:t>
            </a:r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#ff7d07  </a:t>
            </a:r>
            <a:pPr indent="0" marL="0">
              <a:buNone/>
            </a:pPr>
            <a:r>
              <a:rPr lang="en-US" sz="1250" b="1" dirty="0">
                <a:solidFill>
                  <a:srgbClr val="1A2733"/>
                </a:solidFill>
              </a:rPr>
              <a:t>밀집 유빙 7~8/10  </a:t>
            </a:r>
            <a:pPr indent="0" marL="0">
              <a:buNone/>
            </a:pPr>
            <a:r>
              <a:rPr lang="en-US" sz="1100" dirty="0">
                <a:solidFill>
                  <a:srgbClr val="6B7B8C"/>
                </a:solidFill>
              </a:rPr>
              <a:t>Close drift ice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520440"/>
            <a:ext cx="502920" cy="329184"/>
          </a:xfrm>
          <a:prstGeom prst="rect">
            <a:avLst/>
          </a:prstGeom>
          <a:solidFill>
            <a:srgbClr val="FF0000"/>
          </a:solidFill>
          <a:ln w="9525">
            <a:solidFill>
              <a:srgbClr val="B9C4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3520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D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 ~ 100 %  </a:t>
            </a:r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#ff0000  </a:t>
            </a:r>
            <a:pPr indent="0" marL="0">
              <a:buNone/>
            </a:pPr>
            <a:r>
              <a:rPr lang="en-US" sz="1250" b="1" dirty="0">
                <a:solidFill>
                  <a:srgbClr val="1A2733"/>
                </a:solidFill>
              </a:rPr>
              <a:t>초밀집 9~10/10  </a:t>
            </a:r>
            <a:pPr indent="0" marL="0">
              <a:buNone/>
            </a:pPr>
            <a:r>
              <a:rPr lang="en-US" sz="1100" dirty="0">
                <a:solidFill>
                  <a:srgbClr val="6B7B8C"/>
                </a:solidFill>
              </a:rPr>
              <a:t>Very close drift ice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160520"/>
            <a:ext cx="6949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2D52"/>
                </a:solidFill>
              </a:rPr>
              <a:t>사용 방법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</a:rPr>
              <a:t>웹지도: 범례 패널 상단 [SIC 색상] 토글로 Rainbow 연속 &lt;-&gt; WMO 총빙량 전환 (그려진 SIC 레이어 즉시 다시 칠해지고, WMO 선택 시 범례가 계급 이름 목록으로 바뀜. 선택은 브라우저에 기억)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</a:rPr>
              <a:t>PNG: 파이프라인이 두 가지를 동시 생산 — 기본 &lt;이름&gt;.png (rainbow) + &lt;이름&gt;_wmo.png (WMO 계급 + 범례 상자). 모델(polar_png 8모듈)·AMSR L2/L3·A25 합성 적용, GIF 애니메이션은 rainbow 프레임만 사용</a:t>
            </a:r>
            <a:endParaRPr lang="en-US" sz="1400" dirty="0"/>
          </a:p>
        </p:txBody>
      </p:sp>
      <p:pic>
        <p:nvPicPr>
          <p:cNvPr id="17" name="Image 0" descr="/home/claude/sicapply/wmo_leg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554480"/>
            <a:ext cx="3108960" cy="215798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863840" y="4069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8C"/>
                </a:solidFill>
              </a:rPr>
              <a:t>PNG 에 삽입되는 WMO 범례 (좌하단, 영문 계급명)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863840" y="4526280"/>
            <a:ext cx="3840480" cy="1737360"/>
          </a:xfrm>
          <a:prstGeom prst="roundRect">
            <a:avLst>
              <a:gd name="adj" fmla="val 4211"/>
            </a:avLst>
          </a:prstGeom>
          <a:solidFill>
            <a:srgbClr val="EAF2FA"/>
          </a:solidFill>
          <a:ln w="12700">
            <a:solidFill>
              <a:srgbClr val="0B6B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92440" y="4663440"/>
            <a:ext cx="3383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B6B5C"/>
                </a:solidFill>
              </a:rPr>
              <a:t>선택 기준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2733"/>
                </a:solidFill>
              </a:rPr>
              <a:t>분석·세부 구조 확인 → Rainbow 연속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733"/>
                </a:solidFill>
              </a:rPr>
              <a:t>보고서·대외 제공·운항 판단 → WMO 계급 (국제 표준 근거)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B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Color">
  <a:themeElements>
    <a:clrScheme name="SicColor">
      <a:dk1>
        <a:srgbClr val="1A2733"/>
      </a:dk1>
      <a:lt1>
        <a:srgbClr val="FFFFFF"/>
      </a:lt1>
      <a:dk2>
        <a:srgbClr val="0F2D52"/>
      </a:dk2>
      <a:lt2>
        <a:srgbClr val="EAF2FA"/>
      </a:lt2>
      <a:accent1>
        <a:srgbClr val="1E5F8A"/>
      </a:accent1>
      <a:accent2>
        <a:srgbClr val="0B6B5C"/>
      </a:accent2>
      <a:accent3>
        <a:srgbClr val="4C7FA6"/>
      </a:accent3>
      <a:accent4>
        <a:srgbClr val="B85042"/>
      </a:accent4>
      <a:accent5>
        <a:srgbClr val="6B7B8C"/>
      </a:accent5>
      <a:accent6>
        <a:srgbClr val="97BC62"/>
      </a:accent6>
      <a:hlink>
        <a:srgbClr val="1E5F8A"/>
      </a:hlink>
      <a:folHlink>
        <a:srgbClr val="4C7FA6"/>
      </a:folHlink>
    </a:clrScheme>
    <a:fontScheme name="SicColo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SIC 공통 색상 스키마</dc:title>
  <dc:subject>PptxGenJS Presentation</dc:subject>
  <dc:creator>PptxGenJS</dc:creator>
  <cp:lastModifiedBy>PptxGenJS</cp:lastModifiedBy>
  <cp:revision>1</cp:revision>
  <dcterms:created xsi:type="dcterms:W3CDTF">2026-10-03T12:15:40Z</dcterms:created>
  <dcterms:modified xsi:type="dcterms:W3CDTF">2026-10-03T12:15:40Z</dcterms:modified>
</cp:coreProperties>
</file>