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C 색상" id="{71b95308-12cd-3e01-90e9-fdedbf31b1f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F2D52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F2D52"/>
                </a:solidFill>
              </a:rPr>
              <a:t>제목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</a:rPr>
              <a:t>SIC 공통 색상 스키마 — 북극 해빙 웹지도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SIC 공통 색상 스키마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3F5"/>
                </a:solidFill>
              </a:rPr>
              <a:t>해빙농도(SIC) 계열 전 제품 공통 — Rainbow (0% 남색 → 100% 흰색)</a:t>
            </a:r>
            <a:endParaRPr lang="en-US" sz="1800" dirty="0"/>
          </a:p>
        </p:txBody>
      </p:sp>
      <p:pic>
        <p:nvPicPr>
          <p:cNvPr id="4" name="Image 0" descr="/home/claude/sicapply/cbar_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31920"/>
            <a:ext cx="8046720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1"/>
                </a:solidFill>
              </a:rPr>
              <a:t>북극 해빙 웹지도 · 2026-10 적용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B6B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F2D52"/>
                </a:solidFill>
              </a:rPr>
              <a:t>색상 정의 — 앵커 9점, 위치 지정 선형 보간</a:t>
            </a:r>
            <a:endParaRPr lang="en-US" sz="2800" dirty="0"/>
          </a:p>
        </p:txBody>
      </p:sp>
      <p:pic>
        <p:nvPicPr>
          <p:cNvPr id="3" name="Image 0" descr="/home/claude/sicapply/cbar_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06640" cy="10607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2697480"/>
            <a:ext cx="502920" cy="310896"/>
          </a:xfrm>
          <a:prstGeom prst="rect">
            <a:avLst/>
          </a:prstGeom>
          <a:solidFill>
            <a:srgbClr val="081C6E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26974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0 % 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#081c6e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남색 — 개수면(바다)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3099816"/>
            <a:ext cx="502920" cy="310896"/>
          </a:xfrm>
          <a:prstGeom prst="rect">
            <a:avLst/>
          </a:prstGeom>
          <a:solidFill>
            <a:srgbClr val="1B4FC4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9981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10 %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#1b4fc4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파랑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502152"/>
            <a:ext cx="502920" cy="310896"/>
          </a:xfrm>
          <a:prstGeom prst="rect">
            <a:avLst/>
          </a:prstGeom>
          <a:solidFill>
            <a:srgbClr val="1F8EE0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35021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20 %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#1f8ee0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하늘 (15% ice edge 가 10~20% 전환부)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904488"/>
            <a:ext cx="502920" cy="310896"/>
          </a:xfrm>
          <a:prstGeom prst="rect">
            <a:avLst/>
          </a:prstGeom>
          <a:solidFill>
            <a:srgbClr val="19C3E8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43000" y="390448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35 %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#19c3e8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시안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306824"/>
            <a:ext cx="502920" cy="310896"/>
          </a:xfrm>
          <a:prstGeom prst="rect">
            <a:avLst/>
          </a:prstGeom>
          <a:solidFill>
            <a:srgbClr val="2FC96A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430682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50 %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#2fc96a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초록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4709160"/>
            <a:ext cx="502920" cy="310896"/>
          </a:xfrm>
          <a:prstGeom prst="rect">
            <a:avLst/>
          </a:prstGeom>
          <a:solidFill>
            <a:srgbClr val="C6DD23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43000" y="47091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65 %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#c6dd23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연두-노랑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111496"/>
            <a:ext cx="502920" cy="310896"/>
          </a:xfrm>
          <a:prstGeom prst="rect">
            <a:avLst/>
          </a:prstGeom>
          <a:solidFill>
            <a:srgbClr val="F5A81F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43000" y="511149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78 %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#f5a81f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주황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5513832"/>
            <a:ext cx="502920" cy="310896"/>
          </a:xfrm>
          <a:prstGeom prst="rect">
            <a:avLst/>
          </a:prstGeom>
          <a:solidFill>
            <a:srgbClr val="E23A2E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3000" y="55138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90 %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#e23a2e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빨강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5916168"/>
            <a:ext cx="502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9C4C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43000" y="591616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</a:rPr>
              <a:t>100 %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#ffffff   </a:t>
            </a:r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</a:rPr>
              <a:t>흰색 — 밀집 빙역(얼음)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0" y="123444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EAF2FA"/>
          </a:solidFill>
          <a:ln w="12700">
            <a:solidFill>
              <a:srgbClr val="1E5F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1417320"/>
            <a:ext cx="3063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2D52"/>
                </a:solidFill>
              </a:rPr>
              <a:t>설계 원칙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</a:rPr>
              <a:t>0% = 남색: 개수면이 바다색으로 읽힘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</a:rPr>
              <a:t>100% = 흰색: 밀집 빙역이 얼음색으로 읽힘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</a:rPr>
              <a:t>15%(운항 ice edge)가 파랑→하늘 전환부에 위치 — 빙연이 색으로 구분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</a:rPr>
              <a:t>밝기가 어두움→밝음으로 대체로 단조 증가 (rainbow 의 가짜 경계 완화)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</a:rPr>
              <a:t>브레멘대 AMSR2 해빙지도 관행과 유사한 구성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F2D52"/>
                </a:solidFill>
              </a:rPr>
              <a:t>적용 범위와 구현</a:t>
            </a:r>
            <a:endParaRPr lang="en-US" sz="2800" dirty="0"/>
          </a:p>
        </p:txBody>
      </p:sp>
      <p:pic>
        <p:nvPicPr>
          <p:cNvPr id="3" name="Image 0" descr="/home/claude/sicapply/map_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5349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C"/>
                </a:solidFill>
              </a:rPr>
              <a:t>TOPAZ5 siconc 적용 예 (2026-09-09)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80160"/>
            <a:ext cx="69494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F2D52"/>
                </a:solidFill>
              </a:rPr>
              <a:t>적용 대상 — SIC 계열 전부 (byte 값 → 동일 색)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</a:rPr>
              <a:t>관측: AMSR2/AMSR3 SIC·HSI (L2 스와스 · L3 · A25/A25R 합성), ASIP, Sentinel-3 해빙비율 — percent 인코딩 124개 항목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</a:rPr>
              <a:t>예측 모델: TOPAZ5 · TP3A3 · TP3R · neXtSIM-F · RIOPS · AICE · GIOPS · FOAM · GLO12 의 siconc/iiceconc/SIC, fy·siconc_my·siconc_young 포함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</a:rPr>
              <a:t>COG 에 팔레트가 내장된 관측 제품도 공통색이 우선 적용(override)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F2D52"/>
                </a:solidFill>
              </a:rPr>
              <a:t>구현 위치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web\index.html — SIC_STOPS + sicColor() (lut "sic")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web\tools\make_web_data.py — _ICE/_PCT_ICE lut="sic"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web\data\catalog.json — 기존 133개 항목 lut 일괄 갱신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F2D52"/>
                </a:solidFill>
              </a:rPr>
              <a:t>유의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</a:rPr>
              <a:t>데이터(COG) 재생성 불필요 — 색은 뷰어에서 입힘. 좌측 목록의 미리보기 PNG 는 다음 run_make_web_data 실행 때 새 색으로 갱신됨.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Color">
  <a:themeElements>
    <a:clrScheme name="SicColor">
      <a:dk1>
        <a:srgbClr val="1A2733"/>
      </a:dk1>
      <a:lt1>
        <a:srgbClr val="FFFFFF"/>
      </a:lt1>
      <a:dk2>
        <a:srgbClr val="0F2D52"/>
      </a:dk2>
      <a:lt2>
        <a:srgbClr val="EAF2FA"/>
      </a:lt2>
      <a:accent1>
        <a:srgbClr val="1E5F8A"/>
      </a:accent1>
      <a:accent2>
        <a:srgbClr val="0B6B5C"/>
      </a:accent2>
      <a:accent3>
        <a:srgbClr val="4C7FA6"/>
      </a:accent3>
      <a:accent4>
        <a:srgbClr val="B85042"/>
      </a:accent4>
      <a:accent5>
        <a:srgbClr val="6B7B8C"/>
      </a:accent5>
      <a:accent6>
        <a:srgbClr val="97BC62"/>
      </a:accent6>
      <a:hlink>
        <a:srgbClr val="1E5F8A"/>
      </a:hlink>
      <a:folHlink>
        <a:srgbClr val="4C7FA6"/>
      </a:folHlink>
    </a:clrScheme>
    <a:fontScheme name="SicCol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 공통 색상 스키마</dc:title>
  <dc:subject>PptxGenJS Presentation</dc:subject>
  <dc:creator>PptxGenJS</dc:creator>
  <cp:lastModifiedBy>PptxGenJS</cp:lastModifiedBy>
  <cp:revision>1</cp:revision>
  <dcterms:created xsi:type="dcterms:W3CDTF">2026-10-03T11:39:36Z</dcterms:created>
  <dcterms:modified xsi:type="dcterms:W3CDTF">2026-10-03T11:39:36Z</dcterms:modified>
</cp:coreProperties>
</file>